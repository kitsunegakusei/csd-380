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66" r:id="rId2"/>
    <p:sldId id="256" r:id="rId3"/>
    <p:sldId id="257" r:id="rId4"/>
    <p:sldId id="258" r:id="rId5"/>
    <p:sldId id="259" r:id="rId6"/>
    <p:sldId id="260" r:id="rId7"/>
    <p:sldId id="261" r:id="rId8"/>
    <p:sldId id="262" r:id="rId9"/>
    <p:sldId id="263" r:id="rId10"/>
    <p:sldId id="264" r:id="rId11"/>
    <p:sldId id="265"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5" d="100"/>
          <a:sy n="105" d="100"/>
        </p:scale>
        <p:origin x="912"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69804"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Freeform 2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437575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410435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278297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12/11/2025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660264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12/11/2025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227913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12/11/2025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752693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995297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431929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02899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67710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7222783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992100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5008507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6895669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210734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506211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69805" cy="6874935"/>
            <a:chOff x="-8467" y="-8468"/>
            <a:chExt cx="9169805"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cxnSp>
          <p:nvCxnSpPr>
            <p:cNvPr id="8" name="Straight Connector 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BCAD085-E8A6-8845-BD4E-CB4CCA059FC4}" type="datetimeFigureOut">
              <a:rPr lang="en-US" smtClean="0"/>
              <a:t>12/11/2025</a:t>
            </a:fld>
            <a:endParaRPr lang="en-US"/>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23677272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www.wiz.io/academy/application-security/source-code-security" TargetMode="External"/><Relationship Id="rId2" Type="http://schemas.openxmlformats.org/officeDocument/2006/relationships/hyperlink" Target="https://checkmarx.com/supply-chain-security/repository-health-monitoring-part-2-essential-practices-for-secure-repositories/"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9179DE42-5613-4B35-A1E6-6CCBAA13C7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a:extLst>
              <a:ext uri="{FF2B5EF4-FFF2-40B4-BE49-F238E27FC236}">
                <a16:creationId xmlns:a16="http://schemas.microsoft.com/office/drawing/2014/main" id="{EB898B32-3891-4C3A-8F58-C5969D2E903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86225" y="0"/>
            <a:ext cx="9144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4AE4806D-B8F9-4679-A68A-9BD21C01A30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0381" y="3681413"/>
            <a:ext cx="357266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cxnSp>
      <p:sp>
        <p:nvSpPr>
          <p:cNvPr id="25" name="Rectangle 23">
            <a:extLst>
              <a:ext uri="{FF2B5EF4-FFF2-40B4-BE49-F238E27FC236}">
                <a16:creationId xmlns:a16="http://schemas.microsoft.com/office/drawing/2014/main" id="{52FB45E9-914E-4471-AC87-E475CD5176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44073" y="-8467"/>
            <a:ext cx="2255511"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5">
            <a:extLst>
              <a:ext uri="{FF2B5EF4-FFF2-40B4-BE49-F238E27FC236}">
                <a16:creationId xmlns:a16="http://schemas.microsoft.com/office/drawing/2014/main" id="{C310626D-5743-49D4-8F7D-88C4F8F057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0547" y="-8467"/>
            <a:ext cx="1941419"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a:extLst>
              <a:ext uri="{FF2B5EF4-FFF2-40B4-BE49-F238E27FC236}">
                <a16:creationId xmlns:a16="http://schemas.microsoft.com/office/drawing/2014/main" id="{3C195FC1-B568-4C72-9902-34CB35DDD7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7215" y="3048000"/>
            <a:ext cx="2444751"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Rectangle 27">
            <a:extLst>
              <a:ext uri="{FF2B5EF4-FFF2-40B4-BE49-F238E27FC236}">
                <a16:creationId xmlns:a16="http://schemas.microsoft.com/office/drawing/2014/main" id="{EF2BDF77-362C-43F0-8CBB-A969EC2AE0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58841" y="-8467"/>
            <a:ext cx="2140744"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Isosceles Triangle 21">
            <a:extLst>
              <a:ext uri="{FF2B5EF4-FFF2-40B4-BE49-F238E27FC236}">
                <a16:creationId xmlns:a16="http://schemas.microsoft.com/office/drawing/2014/main" id="{4BE96B01-3929-432D-B8C2-ADBCB74C2E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36715" y="3589867"/>
            <a:ext cx="136286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Freeform: Shape 23">
            <a:extLst>
              <a:ext uri="{FF2B5EF4-FFF2-40B4-BE49-F238E27FC236}">
                <a16:creationId xmlns:a16="http://schemas.microsoft.com/office/drawing/2014/main" id="{2A6FCDE6-CDE2-4C51-B18E-A95CFB6797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62215" y="-8467"/>
            <a:ext cx="6881785" cy="6866467"/>
          </a:xfrm>
          <a:custGeom>
            <a:avLst/>
            <a:gdLst>
              <a:gd name="connsiteX0" fmla="*/ 0 w 9175713"/>
              <a:gd name="connsiteY0" fmla="*/ 0 h 6866467"/>
              <a:gd name="connsiteX1" fmla="*/ 1249825 w 9175713"/>
              <a:gd name="connsiteY1" fmla="*/ 0 h 6866467"/>
              <a:gd name="connsiteX2" fmla="*/ 1249825 w 9175713"/>
              <a:gd name="connsiteY2" fmla="*/ 8467 h 6866467"/>
              <a:gd name="connsiteX3" fmla="*/ 9175713 w 9175713"/>
              <a:gd name="connsiteY3" fmla="*/ 8467 h 6866467"/>
              <a:gd name="connsiteX4" fmla="*/ 9175713 w 9175713"/>
              <a:gd name="connsiteY4" fmla="*/ 6866467 h 6866467"/>
              <a:gd name="connsiteX5" fmla="*/ 1249825 w 9175713"/>
              <a:gd name="connsiteY5" fmla="*/ 6866467 h 6866467"/>
              <a:gd name="connsiteX6" fmla="*/ 1109382 w 9175713"/>
              <a:gd name="connsiteY6" fmla="*/ 6866467 h 6866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75713" h="6866467">
                <a:moveTo>
                  <a:pt x="0" y="0"/>
                </a:moveTo>
                <a:lnTo>
                  <a:pt x="1249825" y="0"/>
                </a:lnTo>
                <a:lnTo>
                  <a:pt x="1249825" y="8467"/>
                </a:lnTo>
                <a:lnTo>
                  <a:pt x="9175713" y="8467"/>
                </a:lnTo>
                <a:lnTo>
                  <a:pt x="9175713" y="6866467"/>
                </a:lnTo>
                <a:lnTo>
                  <a:pt x="1249825" y="6866467"/>
                </a:lnTo>
                <a:lnTo>
                  <a:pt x="1109382" y="686646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0523B76-5E3B-481F-4BCC-100BF9FFBC27}"/>
              </a:ext>
            </a:extLst>
          </p:cNvPr>
          <p:cNvSpPr>
            <a:spLocks noGrp="1"/>
          </p:cNvSpPr>
          <p:nvPr>
            <p:ph type="ctrTitle"/>
          </p:nvPr>
        </p:nvSpPr>
        <p:spPr>
          <a:xfrm>
            <a:off x="3314352" y="1020871"/>
            <a:ext cx="5220569" cy="2849671"/>
          </a:xfrm>
        </p:spPr>
        <p:txBody>
          <a:bodyPr>
            <a:normAutofit/>
          </a:bodyPr>
          <a:lstStyle/>
          <a:p>
            <a:pPr algn="l"/>
            <a:r>
              <a:rPr lang="en-US" sz="4800">
                <a:solidFill>
                  <a:srgbClr val="FFFFFF"/>
                </a:solidFill>
              </a:rPr>
              <a:t>Best Practices for Securing Shared Code Repositories</a:t>
            </a:r>
          </a:p>
        </p:txBody>
      </p:sp>
      <p:sp>
        <p:nvSpPr>
          <p:cNvPr id="3" name="Subtitle 2">
            <a:extLst>
              <a:ext uri="{FF2B5EF4-FFF2-40B4-BE49-F238E27FC236}">
                <a16:creationId xmlns:a16="http://schemas.microsoft.com/office/drawing/2014/main" id="{5F8C937C-BAE0-4EE9-65FA-7CDDD0C676DC}"/>
              </a:ext>
            </a:extLst>
          </p:cNvPr>
          <p:cNvSpPr>
            <a:spLocks noGrp="1"/>
          </p:cNvSpPr>
          <p:nvPr>
            <p:ph type="subTitle" idx="1"/>
          </p:nvPr>
        </p:nvSpPr>
        <p:spPr>
          <a:xfrm>
            <a:off x="3411078" y="3962088"/>
            <a:ext cx="4584057" cy="1186108"/>
          </a:xfrm>
        </p:spPr>
        <p:txBody>
          <a:bodyPr>
            <a:normAutofit/>
          </a:bodyPr>
          <a:lstStyle/>
          <a:p>
            <a:pPr algn="l"/>
            <a:r>
              <a:rPr lang="en-US">
                <a:solidFill>
                  <a:srgbClr val="FFFFFF">
                    <a:alpha val="70000"/>
                  </a:srgbClr>
                </a:solidFill>
              </a:rPr>
              <a:t>Crystal Long</a:t>
            </a:r>
          </a:p>
          <a:p>
            <a:pPr algn="l"/>
            <a:r>
              <a:rPr lang="en-US">
                <a:solidFill>
                  <a:srgbClr val="FFFFFF">
                    <a:alpha val="70000"/>
                  </a:srgbClr>
                </a:solidFill>
              </a:rPr>
              <a:t>Module 11.2</a:t>
            </a:r>
          </a:p>
          <a:p>
            <a:pPr algn="l"/>
            <a:r>
              <a:rPr lang="en-US">
                <a:solidFill>
                  <a:srgbClr val="FFFFFF">
                    <a:alpha val="70000"/>
                  </a:srgbClr>
                </a:solidFill>
              </a:rPr>
              <a:t>Sue Sampson</a:t>
            </a:r>
          </a:p>
        </p:txBody>
      </p:sp>
      <p:sp>
        <p:nvSpPr>
          <p:cNvPr id="26" name="Isosceles Triangle 25">
            <a:extLst>
              <a:ext uri="{FF2B5EF4-FFF2-40B4-BE49-F238E27FC236}">
                <a16:creationId xmlns:a16="http://schemas.microsoft.com/office/drawing/2014/main" id="{9D2E8756-2465-473A-BA2A-2DB1D6224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019339" y="3294792"/>
            <a:ext cx="220660" cy="139829"/>
          </a:xfrm>
          <a:prstGeom prst="triangl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90935946"/>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Best Practices for Securing Shared Code Repositories</a:t>
            </a:r>
          </a:p>
        </p:txBody>
      </p:sp>
      <p:sp>
        <p:nvSpPr>
          <p:cNvPr id="3" name="Content Placeholder 2"/>
          <p:cNvSpPr>
            <a:spLocks noGrp="1"/>
          </p:cNvSpPr>
          <p:nvPr>
            <p:ph idx="1"/>
          </p:nvPr>
        </p:nvSpPr>
        <p:spPr/>
        <p:txBody>
          <a:bodyPr>
            <a:normAutofit/>
          </a:bodyPr>
          <a:lstStyle/>
          <a:p>
            <a:r>
              <a:t>Securing shared source code repositories matters because they sit at the center of how teams build and deliver software. When multiple people contribute, review, and merge code, it opens the door for mistakes or security gaps. A strong set of best practices helps keep the codebase clean, trustworthy, and protected from the kinds of supply chain attacks that have been increasing in the industry.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152550" y="609600"/>
            <a:ext cx="2802951" cy="1320800"/>
          </a:xfrm>
        </p:spPr>
        <p:txBody>
          <a:bodyPr>
            <a:normAutofit/>
          </a:bodyPr>
          <a:lstStyle/>
          <a:p>
            <a:pPr>
              <a:lnSpc>
                <a:spcPct val="90000"/>
              </a:lnSpc>
            </a:pPr>
            <a:r>
              <a:rPr lang="en-US" sz="2800"/>
              <a:t>Why Securing Repositories Matters</a:t>
            </a:r>
          </a:p>
        </p:txBody>
      </p:sp>
      <p:sp>
        <p:nvSpPr>
          <p:cNvPr id="3" name="Content Placeholder 2"/>
          <p:cNvSpPr>
            <a:spLocks noGrp="1"/>
          </p:cNvSpPr>
          <p:nvPr>
            <p:ph idx="1"/>
          </p:nvPr>
        </p:nvSpPr>
        <p:spPr>
          <a:xfrm>
            <a:off x="3907172" y="2160589"/>
            <a:ext cx="3048329" cy="3880773"/>
          </a:xfrm>
        </p:spPr>
        <p:txBody>
          <a:bodyPr>
            <a:normAutofit/>
          </a:bodyPr>
          <a:lstStyle/>
          <a:p>
            <a:pPr>
              <a:lnSpc>
                <a:spcPct val="90000"/>
              </a:lnSpc>
            </a:pPr>
            <a:r>
              <a:rPr lang="en-US" sz="1700"/>
              <a:t>Shared repositories handle constant updates from different developers, so they naturally become targets for attackers. If a repo is not protected, issues like leaked secrets, malicious changes, or dependency tampering can quickly spread into production. Putting strong guardrails in place helps prevent risky situations and keeps the development workflow stable and safe.</a:t>
            </a:r>
          </a:p>
        </p:txBody>
      </p:sp>
      <p:pic>
        <p:nvPicPr>
          <p:cNvPr id="5" name="Picture 4">
            <a:extLst>
              <a:ext uri="{FF2B5EF4-FFF2-40B4-BE49-F238E27FC236}">
                <a16:creationId xmlns:a16="http://schemas.microsoft.com/office/drawing/2014/main" id="{6E86E597-F4EF-BE8D-9EF1-114A7AD75DFC}"/>
              </a:ext>
            </a:extLst>
          </p:cNvPr>
          <p:cNvPicPr>
            <a:picLocks noChangeAspect="1"/>
          </p:cNvPicPr>
          <p:nvPr/>
        </p:nvPicPr>
        <p:blipFill>
          <a:blip r:embed="rId2"/>
          <a:srcRect l="35212" r="31601"/>
          <a:stretch>
            <a:fillRect/>
          </a:stretch>
        </p:blipFill>
        <p:spPr>
          <a:xfrm>
            <a:off x="20" y="-1"/>
            <a:ext cx="404620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9" name="Isosceles Triangle 8">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152550" y="609600"/>
            <a:ext cx="2802951" cy="1320800"/>
          </a:xfrm>
        </p:spPr>
        <p:txBody>
          <a:bodyPr>
            <a:normAutofit/>
          </a:bodyPr>
          <a:lstStyle/>
          <a:p>
            <a:pPr>
              <a:lnSpc>
                <a:spcPct val="90000"/>
              </a:lnSpc>
            </a:pPr>
            <a:r>
              <a:rPr lang="en-US" sz="2800"/>
              <a:t>Code Review and Branch Protection</a:t>
            </a:r>
          </a:p>
        </p:txBody>
      </p:sp>
      <p:sp>
        <p:nvSpPr>
          <p:cNvPr id="3" name="Content Placeholder 2"/>
          <p:cNvSpPr>
            <a:spLocks noGrp="1"/>
          </p:cNvSpPr>
          <p:nvPr>
            <p:ph idx="1"/>
          </p:nvPr>
        </p:nvSpPr>
        <p:spPr>
          <a:xfrm>
            <a:off x="3907172" y="2160589"/>
            <a:ext cx="3048329" cy="3880773"/>
          </a:xfrm>
        </p:spPr>
        <p:txBody>
          <a:bodyPr>
            <a:normAutofit/>
          </a:bodyPr>
          <a:lstStyle/>
          <a:p>
            <a:pPr>
              <a:lnSpc>
                <a:spcPct val="90000"/>
              </a:lnSpc>
            </a:pPr>
            <a:r>
              <a:rPr lang="en-US" sz="1700"/>
              <a:t>A simple but powerful practice is requiring peer review before any code gets merged. This adds another set of eyes to catch issues early. Protecting important branches prevents direct pushes, accidental overwrites, or edits that rewrite history. It gives the team a controlled, predictable flow for how changes make it into the main version of the project.</a:t>
            </a:r>
          </a:p>
        </p:txBody>
      </p:sp>
      <p:pic>
        <p:nvPicPr>
          <p:cNvPr id="5" name="Picture 4" descr="3D spheres connected with a red line">
            <a:extLst>
              <a:ext uri="{FF2B5EF4-FFF2-40B4-BE49-F238E27FC236}">
                <a16:creationId xmlns:a16="http://schemas.microsoft.com/office/drawing/2014/main" id="{BD4DF05F-1C60-327F-588B-00D46566803F}"/>
              </a:ext>
            </a:extLst>
          </p:cNvPr>
          <p:cNvPicPr>
            <a:picLocks noChangeAspect="1"/>
          </p:cNvPicPr>
          <p:nvPr/>
        </p:nvPicPr>
        <p:blipFill>
          <a:blip r:embed="rId2"/>
          <a:srcRect l="30818" r="24932"/>
          <a:stretch>
            <a:fillRect/>
          </a:stretch>
        </p:blipFill>
        <p:spPr>
          <a:xfrm>
            <a:off x="20" y="-1"/>
            <a:ext cx="404620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9" name="Isosceles Triangle 8">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cSld>
  <p:clrMapOvr>
    <a:overrideClrMapping bg1="dk1" tx1="lt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65AC7D1-EAA9-48F5-B509-60A7F50BF7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0" name="Rectangle 9">
            <a:extLst>
              <a:ext uri="{FF2B5EF4-FFF2-40B4-BE49-F238E27FC236}">
                <a16:creationId xmlns:a16="http://schemas.microsoft.com/office/drawing/2014/main" id="{D6320AF9-619A-4175-865B-5663E1AEF4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063B6EC6-D752-4EE7-908B-F8F19E8C7FE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965032" y="0"/>
            <a:ext cx="9144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EFECD4E8-AD3E-4228-82A2-9461958EA9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599781" y="3681413"/>
            <a:ext cx="3572669"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cxnSp>
      <p:sp>
        <p:nvSpPr>
          <p:cNvPr id="16" name="Rectangle 23">
            <a:extLst>
              <a:ext uri="{FF2B5EF4-FFF2-40B4-BE49-F238E27FC236}">
                <a16:creationId xmlns:a16="http://schemas.microsoft.com/office/drawing/2014/main" id="{7E018740-5C2B-4A41-AC1A-7E68D1EC1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93473" y="-8467"/>
            <a:ext cx="2255512"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5">
            <a:extLst>
              <a:ext uri="{FF2B5EF4-FFF2-40B4-BE49-F238E27FC236}">
                <a16:creationId xmlns:a16="http://schemas.microsoft.com/office/drawing/2014/main" id="{166F75A4-C475-4941-8EE2-B80A06A2C1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09947" y="-8467"/>
            <a:ext cx="1941419"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Isosceles Triangle 19">
            <a:extLst>
              <a:ext uri="{FF2B5EF4-FFF2-40B4-BE49-F238E27FC236}">
                <a16:creationId xmlns:a16="http://schemas.microsoft.com/office/drawing/2014/main" id="{A032553A-72E8-4B0D-8405-FF9771C9AF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06616" y="3048000"/>
            <a:ext cx="2444750"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Rectangle 27">
            <a:extLst>
              <a:ext uri="{FF2B5EF4-FFF2-40B4-BE49-F238E27FC236}">
                <a16:creationId xmlns:a16="http://schemas.microsoft.com/office/drawing/2014/main" id="{765800AC-C3B9-498E-87BC-29FAE4C76B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608241" y="-8467"/>
            <a:ext cx="2140744"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Isosceles Triangle 23">
            <a:extLst>
              <a:ext uri="{FF2B5EF4-FFF2-40B4-BE49-F238E27FC236}">
                <a16:creationId xmlns:a16="http://schemas.microsoft.com/office/drawing/2014/main" id="{1F9D6ACB-2FF4-49F9-978A-E0D5327FC6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86115" y="3589867"/>
            <a:ext cx="1362870"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508000" y="609600"/>
            <a:ext cx="2882531" cy="5175624"/>
          </a:xfrm>
        </p:spPr>
        <p:txBody>
          <a:bodyPr anchor="ctr">
            <a:normAutofit/>
          </a:bodyPr>
          <a:lstStyle/>
          <a:p>
            <a:r>
              <a:rPr lang="en-US" sz="3300">
                <a:solidFill>
                  <a:schemeClr val="tx1">
                    <a:lumMod val="85000"/>
                    <a:lumOff val="15000"/>
                  </a:schemeClr>
                </a:solidFill>
              </a:rPr>
              <a:t>Managing Dependencies Safely</a:t>
            </a:r>
          </a:p>
        </p:txBody>
      </p:sp>
      <p:sp>
        <p:nvSpPr>
          <p:cNvPr id="26" name="Freeform: Shape 25">
            <a:extLst>
              <a:ext uri="{FF2B5EF4-FFF2-40B4-BE49-F238E27FC236}">
                <a16:creationId xmlns:a16="http://schemas.microsoft.com/office/drawing/2014/main" id="{142BFA2A-77A0-4F60-A32A-685681C848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11615" y="-8467"/>
            <a:ext cx="5332385" cy="6866467"/>
          </a:xfrm>
          <a:custGeom>
            <a:avLst/>
            <a:gdLst>
              <a:gd name="connsiteX0" fmla="*/ 0 w 7109846"/>
              <a:gd name="connsiteY0" fmla="*/ 0 h 6866467"/>
              <a:gd name="connsiteX1" fmla="*/ 1249825 w 7109846"/>
              <a:gd name="connsiteY1" fmla="*/ 0 h 6866467"/>
              <a:gd name="connsiteX2" fmla="*/ 1249825 w 7109846"/>
              <a:gd name="connsiteY2" fmla="*/ 8467 h 6866467"/>
              <a:gd name="connsiteX3" fmla="*/ 7109846 w 7109846"/>
              <a:gd name="connsiteY3" fmla="*/ 8467 h 6866467"/>
              <a:gd name="connsiteX4" fmla="*/ 7109846 w 7109846"/>
              <a:gd name="connsiteY4" fmla="*/ 6866467 h 6866467"/>
              <a:gd name="connsiteX5" fmla="*/ 1249825 w 7109846"/>
              <a:gd name="connsiteY5" fmla="*/ 6866467 h 6866467"/>
              <a:gd name="connsiteX6" fmla="*/ 1109382 w 7109846"/>
              <a:gd name="connsiteY6" fmla="*/ 6866467 h 6866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09846" h="6866467">
                <a:moveTo>
                  <a:pt x="0" y="0"/>
                </a:moveTo>
                <a:lnTo>
                  <a:pt x="1249825" y="0"/>
                </a:lnTo>
                <a:lnTo>
                  <a:pt x="1249825" y="8467"/>
                </a:lnTo>
                <a:lnTo>
                  <a:pt x="7109846" y="8467"/>
                </a:lnTo>
                <a:lnTo>
                  <a:pt x="7109846" y="6866467"/>
                </a:lnTo>
                <a:lnTo>
                  <a:pt x="1249825" y="6866467"/>
                </a:lnTo>
                <a:lnTo>
                  <a:pt x="1109382" y="686646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p:cNvSpPr>
            <a:spLocks noGrp="1"/>
          </p:cNvSpPr>
          <p:nvPr>
            <p:ph idx="1"/>
          </p:nvPr>
        </p:nvSpPr>
        <p:spPr>
          <a:xfrm>
            <a:off x="4587063" y="609601"/>
            <a:ext cx="4133472" cy="5175624"/>
          </a:xfrm>
        </p:spPr>
        <p:txBody>
          <a:bodyPr anchor="ctr">
            <a:normAutofit/>
          </a:bodyPr>
          <a:lstStyle/>
          <a:p>
            <a:r>
              <a:rPr lang="en-US">
                <a:solidFill>
                  <a:srgbClr val="FFFFFF"/>
                </a:solidFill>
              </a:rPr>
              <a:t>Dependencies can be one of the biggest sources of hidden risk, so pinning exact versions helps ensure the build is predictable. Using well‑maintained packages lowers the chances of pulling in outdated or vulnerable code. Regular dependency scans help identify issues early instead of letting them quietly sit in the project.</a:t>
            </a:r>
          </a:p>
        </p:txBody>
      </p:sp>
    </p:spTree>
  </p:cSld>
  <p:clrMapOvr>
    <a:overrideClrMapping bg1="dk1" tx1="lt1" bg2="dk2" tx2="lt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E3A6A76-AE5D-49AE-9D49-90C0F15482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9A5CCB5-EF7C-48C3-B6DF-ADC1771CCD0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11" name="Straight Connector 10">
              <a:extLst>
                <a:ext uri="{FF2B5EF4-FFF2-40B4-BE49-F238E27FC236}">
                  <a16:creationId xmlns:a16="http://schemas.microsoft.com/office/drawing/2014/main" id="{94CCC9E2-3000-4D65-A607-D2D2A37CAD3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sp>
          <p:nvSpPr>
            <p:cNvPr id="12" name="Rectangle 23">
              <a:extLst>
                <a:ext uri="{FF2B5EF4-FFF2-40B4-BE49-F238E27FC236}">
                  <a16:creationId xmlns:a16="http://schemas.microsoft.com/office/drawing/2014/main" id="{3250D6C2-D9D4-4A9F-87A3-8EBB72794B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Rectangle 25">
              <a:extLst>
                <a:ext uri="{FF2B5EF4-FFF2-40B4-BE49-F238E27FC236}">
                  <a16:creationId xmlns:a16="http://schemas.microsoft.com/office/drawing/2014/main" id="{9A621299-817D-46DA-9048-2E0A16D4CF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Isosceles Triangle 13">
              <a:extLst>
                <a:ext uri="{FF2B5EF4-FFF2-40B4-BE49-F238E27FC236}">
                  <a16:creationId xmlns:a16="http://schemas.microsoft.com/office/drawing/2014/main" id="{9F8D7E4E-4190-4BB5-A1AA-20610B2C5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27">
              <a:extLst>
                <a:ext uri="{FF2B5EF4-FFF2-40B4-BE49-F238E27FC236}">
                  <a16:creationId xmlns:a16="http://schemas.microsoft.com/office/drawing/2014/main" id="{53FB6299-378D-4A25-91E6-9C6E0A3096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28">
              <a:extLst>
                <a:ext uri="{FF2B5EF4-FFF2-40B4-BE49-F238E27FC236}">
                  <a16:creationId xmlns:a16="http://schemas.microsoft.com/office/drawing/2014/main" id="{AECD26A0-ED75-4BE4-BFEC-885CBEDB5F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29">
              <a:extLst>
                <a:ext uri="{FF2B5EF4-FFF2-40B4-BE49-F238E27FC236}">
                  <a16:creationId xmlns:a16="http://schemas.microsoft.com/office/drawing/2014/main" id="{B459E0DD-85B6-45C6-8D5E-8E494E9472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cxnSp>
          <p:nvCxnSpPr>
            <p:cNvPr id="18" name="Straight Connector 17">
              <a:extLst>
                <a:ext uri="{FF2B5EF4-FFF2-40B4-BE49-F238E27FC236}">
                  <a16:creationId xmlns:a16="http://schemas.microsoft.com/office/drawing/2014/main" id="{664D381D-8077-4635-82B6-CA7E6160D1C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580172" y="0"/>
              <a:ext cx="1219200" cy="6858000"/>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sp>
          <p:nvSpPr>
            <p:cNvPr id="19" name="Isosceles Triangle 18">
              <a:extLst>
                <a:ext uri="{FF2B5EF4-FFF2-40B4-BE49-F238E27FC236}">
                  <a16:creationId xmlns:a16="http://schemas.microsoft.com/office/drawing/2014/main" id="{B3F8D64C-15FA-42D6-AB21-7FB17F8316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Isosceles Triangle 19">
              <a:extLst>
                <a:ext uri="{FF2B5EF4-FFF2-40B4-BE49-F238E27FC236}">
                  <a16:creationId xmlns:a16="http://schemas.microsoft.com/office/drawing/2014/main" id="{9C8DDD52-FBB2-4634-B9F8-A341CDE106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p:cNvSpPr>
            <a:spLocks noGrp="1"/>
          </p:cNvSpPr>
          <p:nvPr>
            <p:ph type="title"/>
          </p:nvPr>
        </p:nvSpPr>
        <p:spPr>
          <a:xfrm>
            <a:off x="508000" y="609600"/>
            <a:ext cx="6447501" cy="1320800"/>
          </a:xfrm>
        </p:spPr>
        <p:txBody>
          <a:bodyPr>
            <a:normAutofit/>
          </a:bodyPr>
          <a:lstStyle/>
          <a:p>
            <a:r>
              <a:rPr lang="en-US">
                <a:solidFill>
                  <a:srgbClr val="FFFFFF"/>
                </a:solidFill>
              </a:rPr>
              <a:t>Secure CI/CD Practices</a:t>
            </a:r>
          </a:p>
        </p:txBody>
      </p:sp>
      <p:sp>
        <p:nvSpPr>
          <p:cNvPr id="3" name="Content Placeholder 2"/>
          <p:cNvSpPr>
            <a:spLocks noGrp="1"/>
          </p:cNvSpPr>
          <p:nvPr>
            <p:ph idx="1"/>
          </p:nvPr>
        </p:nvSpPr>
        <p:spPr>
          <a:xfrm>
            <a:off x="508000" y="2160589"/>
            <a:ext cx="6447501" cy="3880773"/>
          </a:xfrm>
        </p:spPr>
        <p:txBody>
          <a:bodyPr>
            <a:normAutofit/>
          </a:bodyPr>
          <a:lstStyle/>
          <a:p>
            <a:r>
              <a:rPr lang="en-US">
                <a:solidFill>
                  <a:srgbClr val="FFFFFF"/>
                </a:solidFill>
              </a:rPr>
              <a:t>Security checks should be a natural part of the CI pipeline. Automated scans can catch leaked secrets, risky code patterns, or vulnerable libraries before changes are merged. Keeping CI workflows tightly scoped and avoiding overly permissive automation reduces exposure. Treating CI as a security gate helps protect both the repo and the production environment.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152550" y="609600"/>
            <a:ext cx="2802951" cy="1320800"/>
          </a:xfrm>
        </p:spPr>
        <p:txBody>
          <a:bodyPr>
            <a:normAutofit/>
          </a:bodyPr>
          <a:lstStyle/>
          <a:p>
            <a:r>
              <a:t>Repository Hygiene</a:t>
            </a:r>
          </a:p>
        </p:txBody>
      </p:sp>
      <p:sp>
        <p:nvSpPr>
          <p:cNvPr id="3" name="Content Placeholder 2"/>
          <p:cNvSpPr>
            <a:spLocks noGrp="1"/>
          </p:cNvSpPr>
          <p:nvPr>
            <p:ph idx="1"/>
          </p:nvPr>
        </p:nvSpPr>
        <p:spPr>
          <a:xfrm>
            <a:off x="3907172" y="2160589"/>
            <a:ext cx="3048329" cy="3880773"/>
          </a:xfrm>
        </p:spPr>
        <p:txBody>
          <a:bodyPr>
            <a:normAutofit/>
          </a:bodyPr>
          <a:lstStyle/>
          <a:p>
            <a:pPr>
              <a:lnSpc>
                <a:spcPct val="90000"/>
              </a:lnSpc>
            </a:pPr>
            <a:r>
              <a:t>Keeping the repo lightweight and readable makes it easier to maintain and review. Avoiding binaries prevents hidden malware and reduces clutter. Signed releases add confidence that the code being shipped is authentic. Clean repository habits support a smoother workflow and stronger security posture overall.</a:t>
            </a:r>
            <a:endParaRPr lang="en-US"/>
          </a:p>
        </p:txBody>
      </p:sp>
      <p:pic>
        <p:nvPicPr>
          <p:cNvPr id="5" name="Picture 4" descr="Hand spraying sanitizer">
            <a:extLst>
              <a:ext uri="{FF2B5EF4-FFF2-40B4-BE49-F238E27FC236}">
                <a16:creationId xmlns:a16="http://schemas.microsoft.com/office/drawing/2014/main" id="{A531EF13-8D9D-D0B9-D0C8-04FBADEE3BA0}"/>
              </a:ext>
            </a:extLst>
          </p:cNvPr>
          <p:cNvPicPr>
            <a:picLocks noChangeAspect="1"/>
          </p:cNvPicPr>
          <p:nvPr/>
        </p:nvPicPr>
        <p:blipFill>
          <a:blip r:embed="rId2"/>
          <a:srcRect l="17268" r="43349" b="-2"/>
          <a:stretch>
            <a:fillRect/>
          </a:stretch>
        </p:blipFill>
        <p:spPr>
          <a:xfrm>
            <a:off x="20" y="-1"/>
            <a:ext cx="404620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9" name="Isosceles Triangle 8">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cSld>
  <p:clrMapOvr>
    <a:overrideClrMapping bg1="dk1" tx1="lt1" bg2="dk2" tx2="lt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152550" y="609600"/>
            <a:ext cx="2802951" cy="1320800"/>
          </a:xfrm>
        </p:spPr>
        <p:txBody>
          <a:bodyPr>
            <a:normAutofit/>
          </a:bodyPr>
          <a:lstStyle/>
          <a:p>
            <a:pPr>
              <a:lnSpc>
                <a:spcPct val="90000"/>
              </a:lnSpc>
            </a:pPr>
            <a:r>
              <a:rPr lang="en-US" sz="2800"/>
              <a:t>Access Control and Credential Security</a:t>
            </a:r>
          </a:p>
        </p:txBody>
      </p:sp>
      <p:sp>
        <p:nvSpPr>
          <p:cNvPr id="3" name="Content Placeholder 2"/>
          <p:cNvSpPr>
            <a:spLocks noGrp="1"/>
          </p:cNvSpPr>
          <p:nvPr>
            <p:ph idx="1"/>
          </p:nvPr>
        </p:nvSpPr>
        <p:spPr>
          <a:xfrm>
            <a:off x="3907172" y="2160589"/>
            <a:ext cx="3048329" cy="3880773"/>
          </a:xfrm>
        </p:spPr>
        <p:txBody>
          <a:bodyPr>
            <a:normAutofit/>
          </a:bodyPr>
          <a:lstStyle/>
          <a:p>
            <a:pPr>
              <a:lnSpc>
                <a:spcPct val="90000"/>
              </a:lnSpc>
            </a:pPr>
            <a:r>
              <a:t>Strong access control ensures only the right people can make changes. Secrets should never be stored directly in code, and using secure authentication methods helps defend against unauthorized access. Encrypting sensitive data both in storage and while moving across systems adds another layer of safety.</a:t>
            </a:r>
            <a:endParaRPr lang="en-US"/>
          </a:p>
        </p:txBody>
      </p:sp>
      <p:pic>
        <p:nvPicPr>
          <p:cNvPr id="5" name="Picture 4" descr="Padlock on computer motherboard">
            <a:extLst>
              <a:ext uri="{FF2B5EF4-FFF2-40B4-BE49-F238E27FC236}">
                <a16:creationId xmlns:a16="http://schemas.microsoft.com/office/drawing/2014/main" id="{BBD73ABE-614A-48D6-8272-7E8C8D6B9B9B}"/>
              </a:ext>
            </a:extLst>
          </p:cNvPr>
          <p:cNvPicPr>
            <a:picLocks noChangeAspect="1"/>
          </p:cNvPicPr>
          <p:nvPr/>
        </p:nvPicPr>
        <p:blipFill>
          <a:blip r:embed="rId2"/>
          <a:srcRect l="18632" r="41985" b="-2"/>
          <a:stretch>
            <a:fillRect/>
          </a:stretch>
        </p:blipFill>
        <p:spPr>
          <a:xfrm>
            <a:off x="20" y="-1"/>
            <a:ext cx="404620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9" name="Isosceles Triangle 8">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cSld>
  <p:clrMapOvr>
    <a:overrideClrMapping bg1="dk1" tx1="lt1" bg2="dk2" tx2="lt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152550" y="609600"/>
            <a:ext cx="2802951" cy="1320800"/>
          </a:xfrm>
        </p:spPr>
        <p:txBody>
          <a:bodyPr>
            <a:normAutofit/>
          </a:bodyPr>
          <a:lstStyle/>
          <a:p>
            <a:pPr>
              <a:lnSpc>
                <a:spcPct val="90000"/>
              </a:lnSpc>
            </a:pPr>
            <a:r>
              <a:rPr lang="en-US" sz="3100"/>
              <a:t>Secure Coding Practices</a:t>
            </a:r>
          </a:p>
        </p:txBody>
      </p:sp>
      <p:sp>
        <p:nvSpPr>
          <p:cNvPr id="3" name="Content Placeholder 2"/>
          <p:cNvSpPr>
            <a:spLocks noGrp="1"/>
          </p:cNvSpPr>
          <p:nvPr>
            <p:ph idx="1"/>
          </p:nvPr>
        </p:nvSpPr>
        <p:spPr>
          <a:xfrm>
            <a:off x="3907172" y="2160589"/>
            <a:ext cx="3048329" cy="3880773"/>
          </a:xfrm>
        </p:spPr>
        <p:txBody>
          <a:bodyPr>
            <a:normAutofit/>
          </a:bodyPr>
          <a:lstStyle/>
          <a:p>
            <a:pPr>
              <a:lnSpc>
                <a:spcPct val="90000"/>
              </a:lnSpc>
            </a:pPr>
            <a:r>
              <a:t>Good coding habits go a long way. Validating inputs, handling errors properly, and writing defensively help prevent common vulnerabilities. Logging issues and keeping audit trails make it easier to track problems. Treating security as an ongoing part of the development process keeps the team alert and proactive.</a:t>
            </a:r>
            <a:endParaRPr lang="en-US"/>
          </a:p>
        </p:txBody>
      </p:sp>
      <p:pic>
        <p:nvPicPr>
          <p:cNvPr id="5" name="Picture 4" descr="Computer script on a screen">
            <a:extLst>
              <a:ext uri="{FF2B5EF4-FFF2-40B4-BE49-F238E27FC236}">
                <a16:creationId xmlns:a16="http://schemas.microsoft.com/office/drawing/2014/main" id="{8AFEBC24-31D1-8B1B-76A5-E03F9010DA6A}"/>
              </a:ext>
            </a:extLst>
          </p:cNvPr>
          <p:cNvPicPr>
            <a:picLocks noChangeAspect="1"/>
          </p:cNvPicPr>
          <p:nvPr/>
        </p:nvPicPr>
        <p:blipFill>
          <a:blip r:embed="rId2"/>
          <a:srcRect l="10422" r="50195" b="-2"/>
          <a:stretch>
            <a:fillRect/>
          </a:stretch>
        </p:blipFill>
        <p:spPr>
          <a:xfrm>
            <a:off x="20" y="-1"/>
            <a:ext cx="404620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9" name="Isosceles Triangle 8">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cSld>
  <p:clrMapOvr>
    <a:overrideClrMapping bg1="dk1" tx1="lt1" bg2="dk2" tx2="lt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6C16C40-7C29-4ACC-B851-7E08E459B5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CDD733AE-DD5E-4C77-8BCD-72BF12A06BB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11" name="Straight Connector 10">
              <a:extLst>
                <a:ext uri="{FF2B5EF4-FFF2-40B4-BE49-F238E27FC236}">
                  <a16:creationId xmlns:a16="http://schemas.microsoft.com/office/drawing/2014/main" id="{51DE90A4-932E-4370-BA07-30F43254C01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6A19CA4A-B208-452A-8BE4-BC6940D33D4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B74F8D3E-E618-4DE3-A0CC-B4904BB5D5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Rectangle 25">
              <a:extLst>
                <a:ext uri="{FF2B5EF4-FFF2-40B4-BE49-F238E27FC236}">
                  <a16:creationId xmlns:a16="http://schemas.microsoft.com/office/drawing/2014/main" id="{299DA406-C54B-4E31-867D-FAF8DCE704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Isosceles Triangle 14">
              <a:extLst>
                <a:ext uri="{FF2B5EF4-FFF2-40B4-BE49-F238E27FC236}">
                  <a16:creationId xmlns:a16="http://schemas.microsoft.com/office/drawing/2014/main" id="{A1E16883-5140-47C4-A9AD-AD6598AC3E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27">
              <a:extLst>
                <a:ext uri="{FF2B5EF4-FFF2-40B4-BE49-F238E27FC236}">
                  <a16:creationId xmlns:a16="http://schemas.microsoft.com/office/drawing/2014/main" id="{4CD848DC-8A2A-4093-9BDD-7AF4B6A278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28">
              <a:extLst>
                <a:ext uri="{FF2B5EF4-FFF2-40B4-BE49-F238E27FC236}">
                  <a16:creationId xmlns:a16="http://schemas.microsoft.com/office/drawing/2014/main" id="{34635A4D-E9CE-4B78-912A-479EA4512B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9">
              <a:extLst>
                <a:ext uri="{FF2B5EF4-FFF2-40B4-BE49-F238E27FC236}">
                  <a16:creationId xmlns:a16="http://schemas.microsoft.com/office/drawing/2014/main" id="{D663A5EE-5581-44F3-8F98-688755F63E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a:extLst>
                <a:ext uri="{FF2B5EF4-FFF2-40B4-BE49-F238E27FC236}">
                  <a16:creationId xmlns:a16="http://schemas.microsoft.com/office/drawing/2014/main" id="{B1E84E6A-F5AE-4F4D-98F2-82FE4FCC26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Isosceles Triangle 19">
              <a:extLst>
                <a:ext uri="{FF2B5EF4-FFF2-40B4-BE49-F238E27FC236}">
                  <a16:creationId xmlns:a16="http://schemas.microsoft.com/office/drawing/2014/main" id="{DDE7DDC9-17D4-4686-833D-48F8733B49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p:cNvSpPr>
            <a:spLocks noGrp="1"/>
          </p:cNvSpPr>
          <p:nvPr>
            <p:ph type="title"/>
          </p:nvPr>
        </p:nvSpPr>
        <p:spPr>
          <a:xfrm>
            <a:off x="508000" y="609600"/>
            <a:ext cx="6447501" cy="1320800"/>
          </a:xfrm>
        </p:spPr>
        <p:txBody>
          <a:bodyPr>
            <a:normAutofit/>
          </a:bodyPr>
          <a:lstStyle/>
          <a:p>
            <a:r>
              <a:t>Ongoing Monitoring and Governance</a:t>
            </a:r>
          </a:p>
        </p:txBody>
      </p:sp>
      <p:sp>
        <p:nvSpPr>
          <p:cNvPr id="3" name="Content Placeholder 2"/>
          <p:cNvSpPr>
            <a:spLocks noGrp="1"/>
          </p:cNvSpPr>
          <p:nvPr>
            <p:ph idx="1"/>
          </p:nvPr>
        </p:nvSpPr>
        <p:spPr>
          <a:xfrm>
            <a:off x="508000" y="2160589"/>
            <a:ext cx="6447501" cy="3880773"/>
          </a:xfrm>
        </p:spPr>
        <p:txBody>
          <a:bodyPr>
            <a:normAutofit/>
          </a:bodyPr>
          <a:lstStyle/>
          <a:p>
            <a:r>
              <a:t>Healthy repositories need continuous monitoring. Regular audits, security policies, and clear procedures for reporting and responding to issues keep the team aligned. Staying aware of the repository’s condition helps catch problems early and maintain long‑term security and reliability.</a:t>
            </a:r>
          </a:p>
        </p:txBody>
      </p:sp>
    </p:spTree>
  </p:cSld>
  <p:clrMapOvr>
    <a:overrideClrMapping bg1="dk1" tx1="lt1" bg2="dk2" tx2="lt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CE3A6A76-AE5D-49AE-9D49-90C0F15482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7" name="Group 26">
            <a:extLst>
              <a:ext uri="{FF2B5EF4-FFF2-40B4-BE49-F238E27FC236}">
                <a16:creationId xmlns:a16="http://schemas.microsoft.com/office/drawing/2014/main" id="{A9A5CCB5-EF7C-48C3-B6DF-ADC1771CCD0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28" name="Straight Connector 27">
              <a:extLst>
                <a:ext uri="{FF2B5EF4-FFF2-40B4-BE49-F238E27FC236}">
                  <a16:creationId xmlns:a16="http://schemas.microsoft.com/office/drawing/2014/main" id="{94CCC9E2-3000-4D65-A607-D2D2A37CAD3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sp>
          <p:nvSpPr>
            <p:cNvPr id="29" name="Rectangle 23">
              <a:extLst>
                <a:ext uri="{FF2B5EF4-FFF2-40B4-BE49-F238E27FC236}">
                  <a16:creationId xmlns:a16="http://schemas.microsoft.com/office/drawing/2014/main" id="{3250D6C2-D9D4-4A9F-87A3-8EBB72794B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3" name="Rectangle 25">
              <a:extLst>
                <a:ext uri="{FF2B5EF4-FFF2-40B4-BE49-F238E27FC236}">
                  <a16:creationId xmlns:a16="http://schemas.microsoft.com/office/drawing/2014/main" id="{9A621299-817D-46DA-9048-2E0A16D4CF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Isosceles Triangle 30">
              <a:extLst>
                <a:ext uri="{FF2B5EF4-FFF2-40B4-BE49-F238E27FC236}">
                  <a16:creationId xmlns:a16="http://schemas.microsoft.com/office/drawing/2014/main" id="{9F8D7E4E-4190-4BB5-A1AA-20610B2C5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2" name="Rectangle 27">
              <a:extLst>
                <a:ext uri="{FF2B5EF4-FFF2-40B4-BE49-F238E27FC236}">
                  <a16:creationId xmlns:a16="http://schemas.microsoft.com/office/drawing/2014/main" id="{53FB6299-378D-4A25-91E6-9C6E0A3096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3" name="Rectangle 28">
              <a:extLst>
                <a:ext uri="{FF2B5EF4-FFF2-40B4-BE49-F238E27FC236}">
                  <a16:creationId xmlns:a16="http://schemas.microsoft.com/office/drawing/2014/main" id="{AECD26A0-ED75-4BE4-BFEC-885CBEDB5F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4" name="Rectangle 29">
              <a:extLst>
                <a:ext uri="{FF2B5EF4-FFF2-40B4-BE49-F238E27FC236}">
                  <a16:creationId xmlns:a16="http://schemas.microsoft.com/office/drawing/2014/main" id="{B459E0DD-85B6-45C6-8D5E-8E494E9472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cxnSp>
          <p:nvCxnSpPr>
            <p:cNvPr id="35" name="Straight Connector 34">
              <a:extLst>
                <a:ext uri="{FF2B5EF4-FFF2-40B4-BE49-F238E27FC236}">
                  <a16:creationId xmlns:a16="http://schemas.microsoft.com/office/drawing/2014/main" id="{664D381D-8077-4635-82B6-CA7E6160D1C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580172" y="0"/>
              <a:ext cx="1219200" cy="6858000"/>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sp>
          <p:nvSpPr>
            <p:cNvPr id="36" name="Isosceles Triangle 35">
              <a:extLst>
                <a:ext uri="{FF2B5EF4-FFF2-40B4-BE49-F238E27FC236}">
                  <a16:creationId xmlns:a16="http://schemas.microsoft.com/office/drawing/2014/main" id="{B3F8D64C-15FA-42D6-AB21-7FB17F8316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7" name="Isosceles Triangle 36">
              <a:extLst>
                <a:ext uri="{FF2B5EF4-FFF2-40B4-BE49-F238E27FC236}">
                  <a16:creationId xmlns:a16="http://schemas.microsoft.com/office/drawing/2014/main" id="{9C8DDD52-FBB2-4634-B9F8-A341CDE106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p:cNvSpPr>
            <a:spLocks noGrp="1"/>
          </p:cNvSpPr>
          <p:nvPr>
            <p:ph type="title"/>
          </p:nvPr>
        </p:nvSpPr>
        <p:spPr>
          <a:xfrm>
            <a:off x="508000" y="609600"/>
            <a:ext cx="6447501" cy="1320800"/>
          </a:xfrm>
        </p:spPr>
        <p:txBody>
          <a:bodyPr>
            <a:normAutofit/>
          </a:bodyPr>
          <a:lstStyle/>
          <a:p>
            <a:r>
              <a:rPr lang="en-US">
                <a:solidFill>
                  <a:srgbClr val="FFFFFF"/>
                </a:solidFill>
              </a:rPr>
              <a:t>Summary</a:t>
            </a:r>
          </a:p>
        </p:txBody>
      </p:sp>
      <p:sp>
        <p:nvSpPr>
          <p:cNvPr id="54" name="Content Placeholder 2"/>
          <p:cNvSpPr>
            <a:spLocks noGrp="1"/>
          </p:cNvSpPr>
          <p:nvPr>
            <p:ph idx="1"/>
          </p:nvPr>
        </p:nvSpPr>
        <p:spPr>
          <a:xfrm>
            <a:off x="508000" y="2160589"/>
            <a:ext cx="6447501" cy="3880773"/>
          </a:xfrm>
        </p:spPr>
        <p:txBody>
          <a:bodyPr>
            <a:normAutofit/>
          </a:bodyPr>
          <a:lstStyle/>
          <a:p>
            <a:pPr>
              <a:lnSpc>
                <a:spcPct val="90000"/>
              </a:lnSpc>
            </a:pPr>
            <a:r>
              <a:rPr lang="en-US" sz="1500">
                <a:solidFill>
                  <a:srgbClr val="FFFFFF"/>
                </a:solidFill>
              </a:rPr>
              <a:t>Strong security for shared source code repositories comes from combining protective controls, solid coding practices, and automated scanning. When these pieces work together, they help teams move faster and safer. A layered approach builds confidence in the codebase and keeps the development pipeline resilient.</a:t>
            </a:r>
          </a:p>
          <a:p>
            <a:pPr>
              <a:lnSpc>
                <a:spcPct val="90000"/>
              </a:lnSpc>
            </a:pPr>
            <a:r>
              <a:rPr lang="en-US" sz="1500">
                <a:solidFill>
                  <a:srgbClr val="FFFFFF"/>
                </a:solidFill>
              </a:rPr>
              <a:t>Resources:</a:t>
            </a:r>
          </a:p>
          <a:p>
            <a:pPr>
              <a:lnSpc>
                <a:spcPct val="90000"/>
              </a:lnSpc>
            </a:pPr>
            <a:r>
              <a:rPr lang="en-US" sz="1500" b="1">
                <a:solidFill>
                  <a:srgbClr val="FFFFFF"/>
                </a:solidFill>
              </a:rPr>
              <a:t>Checkmarx.</a:t>
            </a:r>
            <a:r>
              <a:rPr lang="en-US" sz="1500">
                <a:solidFill>
                  <a:srgbClr val="FFFFFF"/>
                </a:solidFill>
              </a:rPr>
              <a:t> (2024). </a:t>
            </a:r>
            <a:r>
              <a:rPr lang="en-US" sz="1500" i="1">
                <a:solidFill>
                  <a:srgbClr val="FFFFFF"/>
                </a:solidFill>
              </a:rPr>
              <a:t>Repository health monitoring part 2: Essential practices for secure repositories. </a:t>
            </a:r>
            <a:r>
              <a:rPr lang="en-US" sz="1500" i="1">
                <a:solidFill>
                  <a:srgbClr val="FFFFFF"/>
                </a:solidFill>
                <a:hlinkClick r:id="rId2">
                  <a:extLst>
                    <a:ext uri="{A12FA001-AC4F-418D-AE19-62706E023703}">
                      <ahyp:hlinkClr xmlns:ahyp="http://schemas.microsoft.com/office/drawing/2018/hyperlinkcolor" val="tx"/>
                    </a:ext>
                  </a:extLst>
                </a:hlinkClick>
              </a:rPr>
              <a:t>https://checkmarx.com/supply-chain-security/repository-health-monitoring-part-2-essential-practices-for-secure-repositories/</a:t>
            </a:r>
            <a:endParaRPr lang="en-US" sz="1500" i="1">
              <a:solidFill>
                <a:srgbClr val="FFFFFF"/>
              </a:solidFill>
            </a:endParaRPr>
          </a:p>
          <a:p>
            <a:pPr>
              <a:lnSpc>
                <a:spcPct val="90000"/>
              </a:lnSpc>
            </a:pPr>
            <a:r>
              <a:rPr lang="en-US" sz="1500" b="1">
                <a:solidFill>
                  <a:srgbClr val="FFFFFF"/>
                </a:solidFill>
              </a:rPr>
              <a:t>Wiz.</a:t>
            </a:r>
            <a:r>
              <a:rPr lang="en-US" sz="1500">
                <a:solidFill>
                  <a:srgbClr val="FFFFFF"/>
                </a:solidFill>
              </a:rPr>
              <a:t> (2024). </a:t>
            </a:r>
            <a:r>
              <a:rPr lang="en-US" sz="1500" i="1">
                <a:solidFill>
                  <a:srgbClr val="FFFFFF"/>
                </a:solidFill>
              </a:rPr>
              <a:t>Source code security: Basics and best practices. </a:t>
            </a:r>
            <a:r>
              <a:rPr lang="en-US" sz="1500" i="1">
                <a:solidFill>
                  <a:srgbClr val="FFFFFF"/>
                </a:solidFill>
                <a:hlinkClick r:id="rId3">
                  <a:extLst>
                    <a:ext uri="{A12FA001-AC4F-418D-AE19-62706E023703}">
                      <ahyp:hlinkClr xmlns:ahyp="http://schemas.microsoft.com/office/drawing/2018/hyperlinkcolor" val="tx"/>
                    </a:ext>
                  </a:extLst>
                </a:hlinkClick>
              </a:rPr>
              <a:t>https://www.wiz.io/academy/application-security/source-code-security</a:t>
            </a:r>
            <a:r>
              <a:rPr lang="en-US" sz="1500" i="1">
                <a:solidFill>
                  <a:srgbClr val="FFFFFF"/>
                </a:solidFill>
              </a:rPr>
              <a:t> </a:t>
            </a:r>
          </a:p>
          <a:p>
            <a:pPr>
              <a:lnSpc>
                <a:spcPct val="90000"/>
              </a:lnSpc>
            </a:pPr>
            <a:endParaRPr lang="en-US" sz="1500">
              <a:solidFill>
                <a:srgbClr val="FFFFFF"/>
              </a:solidFill>
            </a:endParaRPr>
          </a:p>
        </p:txBody>
      </p:sp>
    </p:spTree>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12</TotalTime>
  <Words>664</Words>
  <Application>Microsoft Office PowerPoint</Application>
  <PresentationFormat>On-screen Show (4:3)</PresentationFormat>
  <Paragraphs>27</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Trebuchet MS</vt:lpstr>
      <vt:lpstr>Wingdings 3</vt:lpstr>
      <vt:lpstr>Facet</vt:lpstr>
      <vt:lpstr>Best Practices for Securing Shared Code Repositories</vt:lpstr>
      <vt:lpstr>Best Practices for Securing Shared Code Repositories</vt:lpstr>
      <vt:lpstr>Why Securing Repositories Matters</vt:lpstr>
      <vt:lpstr>Code Review and Branch Protection</vt:lpstr>
      <vt:lpstr>Managing Dependencies Safely</vt:lpstr>
      <vt:lpstr>Secure CI/CD Practices</vt:lpstr>
      <vt:lpstr>Repository Hygiene</vt:lpstr>
      <vt:lpstr>Access Control and Credential Security</vt:lpstr>
      <vt:lpstr>Secure Coding Practices</vt:lpstr>
      <vt:lpstr>Ongoing Monitoring and Governance</vt:lpstr>
      <vt:lpstr>Summary</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Crystal Long</dc:creator>
  <cp:keywords/>
  <dc:description>generated using python-pptx</dc:description>
  <cp:lastModifiedBy>Crystal Long</cp:lastModifiedBy>
  <cp:revision>4</cp:revision>
  <dcterms:created xsi:type="dcterms:W3CDTF">2013-01-27T09:14:16Z</dcterms:created>
  <dcterms:modified xsi:type="dcterms:W3CDTF">2025-12-12T03:12:35Z</dcterms:modified>
  <cp:category/>
</cp:coreProperties>
</file>